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A23D-79C5-7554-75C0-738D22ACA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57409-2E60-496C-1D3F-0D5E9826E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1BF5A-95A3-7E12-808D-11496982C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3E3F-2C25-4B76-BFC9-9194E1A956B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0583A-4D6A-3C06-4793-2EFC4D7ED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188B4-87A3-8FC9-7A79-BDE9AD6DA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DB951-28F4-4206-AF11-EA4762577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3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8FE96-1FCB-42CA-0FCC-992C99F3B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BAC99-274A-1795-9CB0-DC8812D43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C4DE0-D349-FF3A-2FF4-58A8BFF1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3E3F-2C25-4B76-BFC9-9194E1A956B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0FCA7-A265-DF67-7078-2402E399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C068E-6062-E80E-68AB-8D328391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DB951-28F4-4206-AF11-EA4762577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95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9A4C5-6D6F-13FD-0F58-D634701DF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B3905-ECF8-3422-C95A-4D2D04A4C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E4376-635E-AE39-AF13-2F7D0FF42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3E3F-2C25-4B76-BFC9-9194E1A956B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E327-9DE4-7303-4547-B4D895387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6B696-80CE-68FE-C98B-A662DABE9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DB951-28F4-4206-AF11-EA4762577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88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916FF-4EA2-5E44-B5B7-602300B2C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3C413-945F-E57B-9F77-798D76569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AFB98-B3C2-9289-0AAA-DA1BA8A7E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E5DF8-6BE7-00D4-A92B-FF01E336F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3E3F-2C25-4B76-BFC9-9194E1A956B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E483A-E132-A88A-DD8D-B17C0133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E4597-04B1-0970-4C41-D98031B4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DB951-28F4-4206-AF11-EA4762577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81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BF6FC-3A68-38FE-C851-6CBCEE365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5D1BF-5132-5FAD-861A-2EFE08A9C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4BD6F-7943-3F8F-1C38-58189C148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A0EEA1-68E6-49E1-D073-1EF6F339D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76C5F2-9A17-4D83-820A-72BE69603A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FD583-BA46-BABC-405D-BABCE30B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3E3F-2C25-4B76-BFC9-9194E1A956B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C7F1AF-26AD-05CC-DFCD-1EAA9B299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A1060E-677D-E0B5-D2E5-D094F2AB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DB951-28F4-4206-AF11-EA4762577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51191-76D1-1657-9250-EAAA72571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47131-13CF-1CB3-5281-0A43D3602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3E3F-2C25-4B76-BFC9-9194E1A956B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D0476-49C8-B2DE-B54E-AD2D83CBD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BA82C-34E7-0AE4-7B03-AD8425FB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DB951-28F4-4206-AF11-EA4762577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4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412A63-5CFE-B3E4-0B19-5D455DB40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3E3F-2C25-4B76-BFC9-9194E1A956B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4A58A4-F0BC-FBD9-D46F-213BF2776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A30B2-F79D-F4D6-7B57-34917DAB2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DB951-28F4-4206-AF11-EA4762577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43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439A2-78D5-C625-5C8E-E41B7D11A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AAED-87E8-2B6F-865A-0D1DB7E63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17B18-4F84-256A-4C11-F1058AD4F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3BF79-C225-717E-86FE-FB97A4552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3E3F-2C25-4B76-BFC9-9194E1A956B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33F6A-5A48-6A71-2AF8-784CE139B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77DB6-DD80-48C2-12E1-995C306A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DB951-28F4-4206-AF11-EA4762577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98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D3F4-AA24-72BB-6BAD-5A0764713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A93715-9D19-FB4B-DD49-0D7C4ED66F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A388D-F320-67D3-EBF7-CF1EA4E9B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4AA5C-850F-AB4D-E87E-C723AFF1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3E3F-2C25-4B76-BFC9-9194E1A956B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7416C-F88C-CFB4-18DD-0E7759011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75F43-7C5C-2F20-AC16-25F9021C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DB951-28F4-4206-AF11-EA4762577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36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E750F-1B72-B737-07B2-23D7C84D1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FD932-6AFA-8B6F-D154-88D5D65E0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562AC-2B04-B390-115D-C7580AC5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3E3F-2C25-4B76-BFC9-9194E1A956B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C4B6D-B023-42B3-B928-109A8E8EA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DF26C-6E1C-7E08-F72A-E2E23D3F6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DB951-28F4-4206-AF11-EA4762577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21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B99896-08AF-F94B-B954-454C86D7B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8A88E-C60D-317C-B01C-7D8025891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64486-A945-0B7C-91A3-C7050C391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3E3F-2C25-4B76-BFC9-9194E1A956B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145F4-9971-E3DD-57B5-508B764B9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BC083-F728-0683-49C2-E0A117B65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DB951-28F4-4206-AF11-EA4762577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71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9E45A-3AEF-F5BD-C976-9439AB6FB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17626-6F71-0B3E-9CB3-F060C4F26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FAE3C-02F4-8803-FDFF-9C76E7A35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D53E3F-2C25-4B76-BFC9-9194E1A956B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CA8A8-F860-78B0-5612-CA6921D52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458CD-6D62-0F90-FA53-357A1983B7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CDB951-28F4-4206-AF11-EA4762577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8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965AF6-D496-3D3F-5BBF-AFFD9226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975" y="80765"/>
            <a:ext cx="10515600" cy="342446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/>
              <a:t>Competitive Pricing Workflow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86C9BD-AF31-2489-B0B8-953316E3AA00}"/>
              </a:ext>
            </a:extLst>
          </p:cNvPr>
          <p:cNvSpPr/>
          <p:nvPr/>
        </p:nvSpPr>
        <p:spPr>
          <a:xfrm>
            <a:off x="141517" y="707572"/>
            <a:ext cx="1534884" cy="12954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Get Competitor Public site &amp; </a:t>
            </a:r>
            <a:r>
              <a:rPr lang="en-US" sz="1400" dirty="0" err="1">
                <a:solidFill>
                  <a:schemeClr val="bg1"/>
                </a:solidFill>
              </a:rPr>
              <a:t>url’s</a:t>
            </a:r>
            <a:r>
              <a:rPr lang="en-US" sz="1400" dirty="0">
                <a:solidFill>
                  <a:schemeClr val="bg1"/>
                </a:solidFill>
              </a:rPr>
              <a:t> for Catalogs/Menu (pdf)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2BC1CA-25BB-467E-92CA-2C46A58EE9AE}"/>
              </a:ext>
            </a:extLst>
          </p:cNvPr>
          <p:cNvSpPr/>
          <p:nvPr/>
        </p:nvSpPr>
        <p:spPr>
          <a:xfrm>
            <a:off x="9840690" y="5165280"/>
            <a:ext cx="1534885" cy="146957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Store Final Comparison Result in PRS schema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11D68C6-8B1B-AC78-8742-04A107EE0C9F}"/>
              </a:ext>
            </a:extLst>
          </p:cNvPr>
          <p:cNvSpPr/>
          <p:nvPr/>
        </p:nvSpPr>
        <p:spPr>
          <a:xfrm>
            <a:off x="2353135" y="3108779"/>
            <a:ext cx="2271484" cy="1469571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Extract item details from stored Catalogs/Menu using LLM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 (item name ,price, description etc.)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E433C4-F9D7-1775-C869-01D04D790129}"/>
              </a:ext>
            </a:extLst>
          </p:cNvPr>
          <p:cNvSpPr/>
          <p:nvPr/>
        </p:nvSpPr>
        <p:spPr>
          <a:xfrm>
            <a:off x="0" y="3102429"/>
            <a:ext cx="1817915" cy="146957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Web Scrape</a:t>
            </a:r>
          </a:p>
          <a:p>
            <a:pPr algn="ctr"/>
            <a:r>
              <a:rPr lang="en-US" sz="1400" dirty="0"/>
              <a:t>Identify and download competitor catalogs/menu pdf and store in Bucket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35C24E-2D82-35F7-94E1-7398F896D441}"/>
              </a:ext>
            </a:extLst>
          </p:cNvPr>
          <p:cNvSpPr/>
          <p:nvPr/>
        </p:nvSpPr>
        <p:spPr>
          <a:xfrm>
            <a:off x="6096000" y="3102428"/>
            <a:ext cx="1907726" cy="146957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Generate embedding for competitor items and gate group item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F5E7BA-97FE-024C-B356-78A5FEE5C870}"/>
              </a:ext>
            </a:extLst>
          </p:cNvPr>
          <p:cNvSpPr/>
          <p:nvPr/>
        </p:nvSpPr>
        <p:spPr>
          <a:xfrm>
            <a:off x="9394381" y="3102427"/>
            <a:ext cx="2427505" cy="1469571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Perform cosine similarity search between Gate Group items and competitor items to find matches ,Filter items by Threshold Score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86A0A7E-7B08-ADE7-FE66-F9DDB8F94A59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5400000">
            <a:off x="359231" y="2552700"/>
            <a:ext cx="109945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DC3964-2827-507E-B63A-0A1E04BDB251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1817915" y="3837215"/>
            <a:ext cx="535220" cy="6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E050F10-C062-5E37-467F-9D752BD7F40B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4624619" y="3837214"/>
            <a:ext cx="1471381" cy="6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A990039-8D2B-D3B7-05E6-81F58F58CA81}"/>
              </a:ext>
            </a:extLst>
          </p:cNvPr>
          <p:cNvSpPr txBox="1"/>
          <p:nvPr/>
        </p:nvSpPr>
        <p:spPr>
          <a:xfrm>
            <a:off x="4831690" y="3075871"/>
            <a:ext cx="1451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Load item details  in interim table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0F905EB-E0D2-121E-FB38-1ABC1AB19363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8003726" y="3837213"/>
            <a:ext cx="139065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45D3B19-5ADE-4A2E-5BB7-5AD18A759955}"/>
              </a:ext>
            </a:extLst>
          </p:cNvPr>
          <p:cNvCxnSpPr>
            <a:stCxn id="10" idx="2"/>
            <a:endCxn id="6" idx="0"/>
          </p:cNvCxnSpPr>
          <p:nvPr/>
        </p:nvCxnSpPr>
        <p:spPr>
          <a:xfrm flipH="1">
            <a:off x="10608133" y="4571998"/>
            <a:ext cx="1" cy="593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7340C8A-A85E-A578-C3AB-A6E1439CB030}"/>
              </a:ext>
            </a:extLst>
          </p:cNvPr>
          <p:cNvSpPr txBox="1"/>
          <p:nvPr/>
        </p:nvSpPr>
        <p:spPr>
          <a:xfrm>
            <a:off x="7964718" y="3918429"/>
            <a:ext cx="1510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Store embedding in vector DB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C688B7-52BF-4A8B-AC85-C905FE2EA72B}"/>
              </a:ext>
            </a:extLst>
          </p:cNvPr>
          <p:cNvSpPr txBox="1"/>
          <p:nvPr/>
        </p:nvSpPr>
        <p:spPr>
          <a:xfrm>
            <a:off x="1676401" y="4592897"/>
            <a:ext cx="38753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Complex PDF layouts lead to incorrect or incomplete item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Overall accuracy ~90%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DD9F30-5D40-4B26-37E7-1FA3C9D570FB}"/>
              </a:ext>
            </a:extLst>
          </p:cNvPr>
          <p:cNvSpPr txBox="1"/>
          <p:nvPr/>
        </p:nvSpPr>
        <p:spPr>
          <a:xfrm>
            <a:off x="8088088" y="1567966"/>
            <a:ext cx="425449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    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Gate Group item descriptions are lengthy or vague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Competitor item description missing or short.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gate group item missing field brand name, qty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Results in low similarity score for similar items</a:t>
            </a:r>
            <a:br>
              <a:rPr lang="en-US" sz="1400" dirty="0"/>
            </a:br>
            <a:endParaRPr lang="en-US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EE96D6-FAD9-8E2C-B56B-065292839018}"/>
              </a:ext>
            </a:extLst>
          </p:cNvPr>
          <p:cNvSpPr/>
          <p:nvPr/>
        </p:nvSpPr>
        <p:spPr>
          <a:xfrm>
            <a:off x="9699195" y="274846"/>
            <a:ext cx="206819" cy="1837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C1996-01B7-BE57-E138-6A4ACEC74052}"/>
              </a:ext>
            </a:extLst>
          </p:cNvPr>
          <p:cNvSpPr txBox="1"/>
          <p:nvPr/>
        </p:nvSpPr>
        <p:spPr>
          <a:xfrm>
            <a:off x="9916903" y="189920"/>
            <a:ext cx="1534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Started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EBF3D9-9252-CBCC-82C3-7D4EE41B50AA}"/>
              </a:ext>
            </a:extLst>
          </p:cNvPr>
          <p:cNvSpPr/>
          <p:nvPr/>
        </p:nvSpPr>
        <p:spPr>
          <a:xfrm>
            <a:off x="9699198" y="545086"/>
            <a:ext cx="206819" cy="1837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3F7847-70A0-8EEB-E497-2BCF93ACF0E2}"/>
              </a:ext>
            </a:extLst>
          </p:cNvPr>
          <p:cNvSpPr/>
          <p:nvPr/>
        </p:nvSpPr>
        <p:spPr>
          <a:xfrm>
            <a:off x="9699198" y="831616"/>
            <a:ext cx="206819" cy="18372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45522E-0845-24D2-9250-6317B223EDCF}"/>
              </a:ext>
            </a:extLst>
          </p:cNvPr>
          <p:cNvSpPr txBox="1"/>
          <p:nvPr/>
        </p:nvSpPr>
        <p:spPr>
          <a:xfrm>
            <a:off x="9916900" y="438318"/>
            <a:ext cx="1534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Progress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A35D6E-6BEB-63B6-5C27-CAA7C9D68BC8}"/>
              </a:ext>
            </a:extLst>
          </p:cNvPr>
          <p:cNvSpPr txBox="1"/>
          <p:nvPr/>
        </p:nvSpPr>
        <p:spPr>
          <a:xfrm>
            <a:off x="9906014" y="734123"/>
            <a:ext cx="1534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FF4162-72C1-CD55-03B0-622B350C10F0}"/>
              </a:ext>
            </a:extLst>
          </p:cNvPr>
          <p:cNvSpPr txBox="1"/>
          <p:nvPr/>
        </p:nvSpPr>
        <p:spPr>
          <a:xfrm>
            <a:off x="2353135" y="2585559"/>
            <a:ext cx="2549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Processing manually downloaded Catalogs/Menu’s</a:t>
            </a:r>
          </a:p>
        </p:txBody>
      </p:sp>
    </p:spTree>
    <p:extLst>
      <p:ext uri="{BB962C8B-B14F-4D97-AF65-F5344CB8AC3E}">
        <p14:creationId xmlns:p14="http://schemas.microsoft.com/office/powerpoint/2010/main" val="236012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160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Competitive Pricing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Sajan Ray</dc:creator>
  <cp:lastModifiedBy>Sajan Ray</cp:lastModifiedBy>
  <cp:revision>15</cp:revision>
  <dcterms:created xsi:type="dcterms:W3CDTF">2026-02-04T09:41:22Z</dcterms:created>
  <dcterms:modified xsi:type="dcterms:W3CDTF">2026-02-04T11:34:27Z</dcterms:modified>
</cp:coreProperties>
</file>